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2746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A33"/>
          </a:solidFill>
          <a:ln w="12700">
            <a:solidFill>
              <a:srgbClr val="081A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58368" y="566928"/>
            <a:ext cx="29260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1097280"/>
            <a:ext cx="58521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Engagement &amp;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Analytics Platform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76656" y="2770632"/>
            <a:ext cx="57607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Walkthrough: UI → Controller → EF Core → SQL Server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76656" y="3840480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49808" y="3913632"/>
            <a:ext cx="13624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ASP.NET Core MVC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340864" y="3840480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414016" y="3913632"/>
            <a:ext cx="154533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 Core + SQL Server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87952" y="3840480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261104" y="3913632"/>
            <a:ext cx="108813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Swagger APIs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537960" y="731520"/>
            <a:ext cx="489204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D6E0E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0" descr="/mnt/data/crops/page-01_crop.png"/>
          <p:cNvPicPr>
            <a:picLocks noChangeAspect="1"/>
          </p:cNvPicPr>
          <p:nvPr/>
        </p:nvPicPr>
        <p:blipFill>
          <a:blip r:embed="rId3"/>
          <a:srcRect t="7324" b="7324"/>
          <a:stretch/>
        </p:blipFill>
        <p:spPr>
          <a:xfrm>
            <a:off x="6629400" y="822960"/>
            <a:ext cx="4709160" cy="2350008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629400" y="3218688"/>
            <a:ext cx="4709160" cy="1371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6629400" y="3273552"/>
            <a:ext cx="470916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Landing page / starting point</a:t>
            </a:r>
            <a:endParaRPr lang="en-US" sz="840" dirty="0"/>
          </a:p>
        </p:txBody>
      </p:sp>
      <p:sp>
        <p:nvSpPr>
          <p:cNvPr id="18" name="Shape 15"/>
          <p:cNvSpPr/>
          <p:nvPr/>
        </p:nvSpPr>
        <p:spPr>
          <a:xfrm>
            <a:off x="7360920" y="379476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E0E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9" name="Image 1" descr="/mnt/data/crops/page-12_crop.png"/>
          <p:cNvPicPr>
            <a:picLocks noChangeAspect="1"/>
          </p:cNvPicPr>
          <p:nvPr/>
        </p:nvPicPr>
        <p:blipFill>
          <a:blip r:embed="rId4"/>
          <a:srcRect t="10600" b="10600"/>
          <a:stretch/>
        </p:blipFill>
        <p:spPr>
          <a:xfrm>
            <a:off x="7452360" y="3886200"/>
            <a:ext cx="3063240" cy="1389888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7452360" y="5321808"/>
            <a:ext cx="3063240" cy="1371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7"/>
          <p:cNvSpPr/>
          <p:nvPr/>
        </p:nvSpPr>
        <p:spPr>
          <a:xfrm>
            <a:off x="7452360" y="5376672"/>
            <a:ext cx="306324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Swagger API testing</a:t>
            </a:r>
            <a:endParaRPr lang="en-US" sz="840" dirty="0"/>
          </a:p>
        </p:txBody>
      </p:sp>
      <p:sp>
        <p:nvSpPr>
          <p:cNvPr id="22" name="Text 18"/>
          <p:cNvSpPr/>
          <p:nvPr/>
        </p:nvSpPr>
        <p:spPr>
          <a:xfrm>
            <a:off x="676656" y="4590288"/>
            <a:ext cx="53492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review deck covering architecture, screenshots, core logic, practices, design patterns and Q&amp;A preparedness.</a:t>
            </a:r>
            <a:endParaRPr lang="en-US" sz="1300" dirty="0"/>
          </a:p>
        </p:txBody>
      </p:sp>
      <p:sp>
        <p:nvSpPr>
          <p:cNvPr id="23" name="Rounded Rectangle 22"/>
          <p:cNvSpPr/>
          <p:nvPr/>
        </p:nvSpPr>
        <p:spPr>
          <a:xfrm>
            <a:off x="676656" y="3017520"/>
            <a:ext cx="4800600" cy="438912"/>
          </a:xfrm>
          <a:prstGeom prst="roundRect">
            <a:avLst/>
          </a:prstGeom>
          <a:solidFill>
            <a:srgbClr val="ECF1FF"/>
          </a:solidFill>
          <a:ln w="15875">
            <a:solidFill>
              <a:srgbClr val="315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C315E"/>
                </a:solidFill>
              </a:rPr>
              <a:t>Presented by: Anuja Salve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017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Customer Engagement &amp; Service Analytics Platform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48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</a:rPr>
              <a:t>Problem Statement &amp; Objectives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274552" y="6656832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2/18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58368" y="1143000"/>
            <a:ext cx="52578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143000"/>
            <a:ext cx="52578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417320"/>
            <a:ext cx="4389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1874520"/>
            <a:ext cx="4572000" cy="2331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</a:rPr>
              <a:t>• Customer data and support requests are difficult to track manually.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</a:rPr>
              <a:t>• Teams need one place to view customers, tickets, status and priority.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</a:rPr>
              <a:t>• Admin and user access must be separated to prevent unauthorized actions.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</a:rPr>
              <a:t>• The system should expose APIs so data can be tested and integrated later.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6537960" y="1417320"/>
            <a:ext cx="4389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Objectives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65392" y="1874520"/>
            <a:ext cx="4572000" cy="2331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</a:rPr>
              <a:t>• Build a centralized Customer Engagement &amp; Service Analytics platform.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</a:rPr>
              <a:t>• Support Customer CRUD and Ticket CRUD using MVC screens.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</a:rPr>
              <a:t>• Persist data through EF Core and SQL Server migrations.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</a:rPr>
              <a:t>• Provide secured dashboards, REST APIs, Swagger testing and basic unit tests.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1097280" y="5806440"/>
            <a:ext cx="9966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endParaRPr lang="en-US" sz="13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017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Customer Engagement &amp; Service Analytics Platform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48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</a:rPr>
              <a:t>Agenda for the 18-Slide Walkthrough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274552" y="6656832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3/18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234440"/>
            <a:ext cx="498348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55080" y="1234440"/>
            <a:ext cx="498348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572768"/>
            <a:ext cx="42976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2011680"/>
            <a:ext cx="4389120" cy="2468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• Problem statement &amp; objectives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• Application scope and user roles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• Architecture and technology stack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• Database schema and EF Core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• API endpoints and Swagger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29400" y="1572768"/>
            <a:ext cx="42976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Demonstration + Readiness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75120" y="2011680"/>
            <a:ext cx="4389120" cy="2468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• UI-to-database demo screenshots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• Security and role-based access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• SOLID principles: evidence-based assessment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• Design patterns and industry practices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• Top modules, best practices, Q&amp;A readiness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5925312"/>
            <a:ext cx="98755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endParaRPr lang="en-US" sz="11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017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Customer Engagement &amp; Service Analytics Platform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48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</a:rPr>
              <a:t>Architecture of the Project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274552" y="6656832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4/18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298448"/>
            <a:ext cx="14173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651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417320"/>
            <a:ext cx="12344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560320" y="1298448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651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1417320"/>
            <a:ext cx="19659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 Layer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Razor Views + Bootstrap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57800" y="1298448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651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49240" y="1417320"/>
            <a:ext cx="21488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Logic Layer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MVC + API Controllers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298448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417320"/>
            <a:ext cx="17373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Access Layer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 Core DbContext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561320" y="1298448"/>
            <a:ext cx="1143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651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52760" y="1417320"/>
            <a:ext cx="96012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Server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057400" y="1810512"/>
            <a:ext cx="45720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709160" y="1810512"/>
            <a:ext cx="50292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589520" y="1810512"/>
            <a:ext cx="50292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058400" y="1810512"/>
            <a:ext cx="45720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822960" y="3154680"/>
            <a:ext cx="33375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&amp; Authorization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2960" y="3465576"/>
            <a:ext cx="3337560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Cookie-based MVC login, role claims, [Authorize] attributes, Admin/User dashboards and AccessDenied page.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434840" y="3154680"/>
            <a:ext cx="33375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&amp; Security Layer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434840" y="3465576"/>
            <a:ext cx="3337560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CustomersApi, TicketsApi and AuthApi expose REST endpoints; AuthApi creates a JWT token for API login testing.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046720" y="3154680"/>
            <a:ext cx="33375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DevOps / Quality Layer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046720" y="3465576"/>
            <a:ext cx="3337560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Swagger/OpenAPI, Dockerfile, GitHub workflow and three xUnit checks support testing and delivery readiness.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14400" y="5806440"/>
            <a:ext cx="102412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017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Customer Engagement &amp; Service Analytics Platform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48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</a:rPr>
              <a:t>Technology Stack &amp; Project Scope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274552" y="6656832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5/18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" y="1243584"/>
            <a:ext cx="48920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1554480"/>
            <a:ext cx="48920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Razor Views, Bootstrap 5, Tag Helpers, validation messages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048256"/>
            <a:ext cx="48920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2359152"/>
            <a:ext cx="48920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ASP.NET Core MVC controllers + API controllers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2852928"/>
            <a:ext cx="48920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3163824"/>
            <a:ext cx="48920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Entity Framework Core, SQL Server, migrations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3657600"/>
            <a:ext cx="48920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3968496"/>
            <a:ext cx="48920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Cookie authentication, role-based authorization, JWT generation for APIs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4462272"/>
            <a:ext cx="48920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 / Tools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77240" y="4773168"/>
            <a:ext cx="48920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Swagger, xUnit, Dockerfile, GitHub workflow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80760" y="1170432"/>
            <a:ext cx="5303520" cy="2331720"/>
          </a:xfrm>
          <a:prstGeom prst="roundRect">
            <a:avLst>
              <a:gd name="adj" fmla="val 313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1289304"/>
            <a:ext cx="499262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Program.cs configuration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6236208" y="1536192"/>
            <a:ext cx="4992624" cy="1874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builder.Services.AddControllersWithViews();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builder.Services.AddDbContext&lt;ApplicationDbContext&gt;(options =&gt;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options.UseSqlServer(builder.Configuration.GetConnectionString("DefaultConnection")));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builder.Services.AddSwaggerGen();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builder.Services.AddAuthentication(CookieAuthenticationDefaults.AuthenticationScheme)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.AddCookie(options =&gt;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options.LoginPath = "/Account/Login";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options.AccessDeniedPath = "/Account/AccessDenied";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});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080760" y="406908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E0EB"/>
            </a:solidFill>
            <a:prstDash val="solid"/>
          </a:ln>
        </p:spPr>
      </p:sp>
      <p:pic>
        <p:nvPicPr>
          <p:cNvPr id="22" name="Image 0" descr="/mnt/data/cep/CostumerEngagementPlatform-Final-Capstone-Project--master/test cases passed op.png"/>
          <p:cNvPicPr>
            <a:picLocks noChangeAspect="1"/>
          </p:cNvPicPr>
          <p:nvPr/>
        </p:nvPicPr>
        <p:blipFill>
          <a:blip r:embed="rId3"/>
          <a:srcRect t="25244" b="25244"/>
          <a:stretch/>
        </p:blipFill>
        <p:spPr>
          <a:xfrm>
            <a:off x="6172200" y="4160520"/>
            <a:ext cx="5120640" cy="978408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6172200" y="5184648"/>
            <a:ext cx="5120640" cy="1371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72200" y="5239512"/>
            <a:ext cx="512064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test output in the attached project</a:t>
            </a:r>
            <a:endParaRPr lang="en-US" sz="8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017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Customer Engagement &amp; Service Analytics Platform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48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</a:rPr>
              <a:t>Project Structure: What Each Folder Does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274552" y="6656832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6/18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188720"/>
            <a:ext cx="5303520" cy="4526280"/>
          </a:xfrm>
          <a:prstGeom prst="roundRect">
            <a:avLst>
              <a:gd name="adj" fmla="val 161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307592"/>
            <a:ext cx="499262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 layout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978408" y="1554480"/>
            <a:ext cx="4992624" cy="4069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CostumerEngagementPlatform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├── Controllers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│   ├── AccountController.cs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│   ├── CustomersController.cs / TicketsController.cs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│   └── AuthApiController.cs / CustomersApiController.cs / TicketsApiController.cs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├── Models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│   ├── Customer.cs, Ticket.cs, LoginViewModel.cs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├── Data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│   └── ApplicationDbContext.cs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├── Migrations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│   └── EF Core database history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├── Views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│   ├── Account, Customers, Tickets, Shared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├── wwwroot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│   └── css, js, bootstrap assets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└── UnitTest1.cs, Dockerfile, GitHub workflow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446520" y="1280160"/>
            <a:ext cx="45720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46520" y="1591056"/>
            <a:ext cx="45720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Coordinate requests, validation, CRUD operations and redirects/responses.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46520" y="2084832"/>
            <a:ext cx="45720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46520" y="2395728"/>
            <a:ext cx="45720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 domain entities and form/view inputs using DataAnnotations.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46520" y="2889504"/>
            <a:ext cx="45720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+ Migrations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46520" y="3200400"/>
            <a:ext cx="45720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DbSet&lt;Customer&gt;, DbSet&lt;Ticket&gt; and maintain SQL schema changes.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46520" y="3694176"/>
            <a:ext cx="45720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Views + wwwroot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46520" y="4005072"/>
            <a:ext cx="45720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Render the UI using Razor, Bootstrap, layout and static resources.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46520" y="4498848"/>
            <a:ext cx="45720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/ Delivery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46520" y="4809744"/>
            <a:ext cx="45720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Swagger for API verification, xUnit basics, Docker/CI artifacts.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017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Customer Engagement &amp; Service Analytics Platform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48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</a:rPr>
              <a:t>Database Schema &amp; EF Core Model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274552" y="6656832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7/18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234440"/>
            <a:ext cx="374904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554480"/>
            <a:ext cx="25603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43000" y="1993392"/>
            <a:ext cx="2926080" cy="1691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CustomerId (PK)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Name, Email, Phone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Address (optional)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</a:rPr>
              <a:t>• Tickets navigation collection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543800" y="1234440"/>
            <a:ext cx="374904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18120" y="1554480"/>
            <a:ext cx="25603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818120" y="1993392"/>
            <a:ext cx="292608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</a:rPr>
              <a:t>• TicketId (PK)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</a:rPr>
              <a:t>• Subject, Description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</a:rPr>
              <a:t>• Status = Open by default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</a:rPr>
              <a:t>• Priority = Medium by default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</a:rPr>
              <a:t>• CreatedDate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</a:rPr>
              <a:t>• CustomerId (nullable FK)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4754880" y="2880360"/>
            <a:ext cx="2651760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4983480" y="2331720"/>
            <a:ext cx="21945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Customer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have many Tickets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971800" y="5166360"/>
            <a:ext cx="6217920" cy="777240"/>
          </a:xfrm>
          <a:prstGeom prst="roundRect">
            <a:avLst>
              <a:gd name="adj" fmla="val 941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27248" y="5285232"/>
            <a:ext cx="590702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ApplicationDbContext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3127248" y="5532120"/>
            <a:ext cx="5907024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public DbSet&lt;Customer&gt; Customers { get; set; }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public DbSet&lt;Ticket&gt; Tickets { get; set; }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017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Customer Engagement &amp; Service Analytics Platform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48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</a:rPr>
              <a:t>API Endpoints &amp; Swagger Testing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274552" y="6656832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8/18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" y="1207008"/>
            <a:ext cx="10058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65960" y="1207008"/>
            <a:ext cx="2926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57800" y="1207008"/>
            <a:ext cx="53949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1517904"/>
            <a:ext cx="1069848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581912"/>
            <a:ext cx="731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965960" y="1581912"/>
            <a:ext cx="29260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/api/AuthApi/login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257800" y="1581912"/>
            <a:ext cx="52120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Generates JWT for Admin/User demo login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1956816"/>
            <a:ext cx="10698480" cy="329184"/>
          </a:xfrm>
          <a:prstGeom prst="roundRect">
            <a:avLst>
              <a:gd name="adj" fmla="val 22222"/>
            </a:avLst>
          </a:prstGeom>
          <a:solidFill>
            <a:srgbClr val="F8FAFC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020824"/>
            <a:ext cx="731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965960" y="2020824"/>
            <a:ext cx="29260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/api/CustomersApi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257800" y="2020824"/>
            <a:ext cx="52120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Returns customer list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2395728"/>
            <a:ext cx="1069848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2459736"/>
            <a:ext cx="731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965960" y="2459736"/>
            <a:ext cx="29260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/api/CustomersApi/{id}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257800" y="2459736"/>
            <a:ext cx="52120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Returns one customer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" y="2834640"/>
            <a:ext cx="10698480" cy="329184"/>
          </a:xfrm>
          <a:prstGeom prst="roundRect">
            <a:avLst>
              <a:gd name="adj" fmla="val 22222"/>
            </a:avLst>
          </a:prstGeom>
          <a:solidFill>
            <a:srgbClr val="F8FAFC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2898648"/>
            <a:ext cx="731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965960" y="2898648"/>
            <a:ext cx="29260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/api/CustomersApi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257800" y="2898648"/>
            <a:ext cx="52120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Creates customer record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85800" y="3273552"/>
            <a:ext cx="1069848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3337560"/>
            <a:ext cx="731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965960" y="3337560"/>
            <a:ext cx="29260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/api/TicketsApi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257800" y="3337560"/>
            <a:ext cx="52120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Returns ticket list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85800" y="3712464"/>
            <a:ext cx="10698480" cy="329184"/>
          </a:xfrm>
          <a:prstGeom prst="roundRect">
            <a:avLst>
              <a:gd name="adj" fmla="val 22222"/>
            </a:avLst>
          </a:prstGeom>
          <a:solidFill>
            <a:srgbClr val="F8FAFC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3776472"/>
            <a:ext cx="731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965960" y="3776472"/>
            <a:ext cx="29260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/api/TicketsApi/{id}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257800" y="3776472"/>
            <a:ext cx="52120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Returns one ticket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85800" y="4151376"/>
            <a:ext cx="1069848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4215384"/>
            <a:ext cx="731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965960" y="4215384"/>
            <a:ext cx="29260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/api/TicketsApi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257800" y="4215384"/>
            <a:ext cx="52120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Creates ticket record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22960" y="489204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E0EB"/>
            </a:solidFill>
            <a:prstDash val="solid"/>
          </a:ln>
        </p:spPr>
      </p:sp>
      <p:pic>
        <p:nvPicPr>
          <p:cNvPr id="40" name="Image 0" descr="/mnt/data/crops/page-12_crop.png"/>
          <p:cNvPicPr>
            <a:picLocks noChangeAspect="1"/>
          </p:cNvPicPr>
          <p:nvPr/>
        </p:nvPicPr>
        <p:blipFill>
          <a:blip r:embed="rId3"/>
          <a:srcRect t="37502" b="37502"/>
          <a:stretch/>
        </p:blipFill>
        <p:spPr>
          <a:xfrm>
            <a:off x="914400" y="4983480"/>
            <a:ext cx="4892040" cy="704088"/>
          </a:xfrm>
          <a:prstGeom prst="rect">
            <a:avLst/>
          </a:prstGeom>
        </p:spPr>
      </p:pic>
      <p:sp>
        <p:nvSpPr>
          <p:cNvPr id="41" name="Shape 38"/>
          <p:cNvSpPr/>
          <p:nvPr/>
        </p:nvSpPr>
        <p:spPr>
          <a:xfrm>
            <a:off x="914400" y="5733288"/>
            <a:ext cx="4892040" cy="137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14400" y="5788152"/>
            <a:ext cx="489204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Swagger contract visible to tester/SME</a:t>
            </a:r>
            <a:endParaRPr lang="en-US" sz="840" dirty="0"/>
          </a:p>
        </p:txBody>
      </p:sp>
      <p:sp>
        <p:nvSpPr>
          <p:cNvPr id="43" name="Shape 40"/>
          <p:cNvSpPr/>
          <p:nvPr/>
        </p:nvSpPr>
        <p:spPr>
          <a:xfrm>
            <a:off x="6309360" y="489204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E0EB"/>
            </a:solidFill>
            <a:prstDash val="solid"/>
          </a:ln>
        </p:spPr>
      </p:sp>
      <p:pic>
        <p:nvPicPr>
          <p:cNvPr id="44" name="Image 1" descr="/mnt/data/crops/page-13_crop.png"/>
          <p:cNvPicPr>
            <a:picLocks noChangeAspect="1"/>
          </p:cNvPicPr>
          <p:nvPr/>
        </p:nvPicPr>
        <p:blipFill>
          <a:blip r:embed="rId4"/>
          <a:srcRect t="37537" b="37537"/>
          <a:stretch/>
        </p:blipFill>
        <p:spPr>
          <a:xfrm>
            <a:off x="6400800" y="4983480"/>
            <a:ext cx="4892040" cy="704088"/>
          </a:xfrm>
          <a:prstGeom prst="rect">
            <a:avLst/>
          </a:prstGeom>
        </p:spPr>
      </p:pic>
      <p:sp>
        <p:nvSpPr>
          <p:cNvPr id="45" name="Shape 41"/>
          <p:cNvSpPr/>
          <p:nvPr/>
        </p:nvSpPr>
        <p:spPr>
          <a:xfrm>
            <a:off x="6400800" y="5733288"/>
            <a:ext cx="4892040" cy="1371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6400800" y="5788152"/>
            <a:ext cx="489204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execution output / response</a:t>
            </a:r>
            <a:endParaRPr lang="en-US" sz="8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017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Customer Engagement &amp; Service Analytics Platform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48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</a:rPr>
              <a:t>End-to-End Application Flow: UI to Database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274552" y="6656832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9/18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57276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651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53312"/>
            <a:ext cx="1389888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submits form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075688" y="1655064"/>
            <a:ext cx="310896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41448" y="1234440"/>
            <a:ext cx="157276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651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32888" y="1353312"/>
            <a:ext cx="1389888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MVC action validates ModelState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014216" y="1655064"/>
            <a:ext cx="310896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79976" y="1234440"/>
            <a:ext cx="157276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651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71416" y="1353312"/>
            <a:ext cx="1389888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 Core tracks entity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52744" y="1655064"/>
            <a:ext cx="310896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318504" y="1234440"/>
            <a:ext cx="157276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9944" y="1353312"/>
            <a:ext cx="1389888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SaveChangesAsync commits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891272" y="1655064"/>
            <a:ext cx="310896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57032" y="1234440"/>
            <a:ext cx="157276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651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48472" y="1353312"/>
            <a:ext cx="1389888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Server persists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829800" y="1655064"/>
            <a:ext cx="310896" cy="0"/>
          </a:xfrm>
          <a:prstGeom prst="line">
            <a:avLst/>
          </a:prstGeom>
          <a:noFill/>
          <a:ln w="1524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195560" y="1234440"/>
            <a:ext cx="157276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651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87000" y="1353312"/>
            <a:ext cx="1389888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Razor/Swagger shows output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31520" y="2606040"/>
            <a:ext cx="32918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6E0EB"/>
            </a:solidFill>
            <a:prstDash val="solid"/>
          </a:ln>
        </p:spPr>
      </p:sp>
      <p:pic>
        <p:nvPicPr>
          <p:cNvPr id="26" name="Image 0" descr="/mnt/data/crops/page-05_crop.png"/>
          <p:cNvPicPr>
            <a:picLocks noChangeAspect="1"/>
          </p:cNvPicPr>
          <p:nvPr/>
        </p:nvPicPr>
        <p:blipFill>
          <a:blip r:embed="rId3"/>
          <a:srcRect t="4795" b="4795"/>
          <a:stretch/>
        </p:blipFill>
        <p:spPr>
          <a:xfrm>
            <a:off x="822960" y="2697480"/>
            <a:ext cx="3108960" cy="1618488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822960" y="4361688"/>
            <a:ext cx="3108960" cy="137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22960" y="4416552"/>
            <a:ext cx="310896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customer screen</a:t>
            </a:r>
            <a:endParaRPr lang="en-US" sz="840" dirty="0"/>
          </a:p>
        </p:txBody>
      </p:sp>
      <p:sp>
        <p:nvSpPr>
          <p:cNvPr id="29" name="Shape 26"/>
          <p:cNvSpPr/>
          <p:nvPr/>
        </p:nvSpPr>
        <p:spPr>
          <a:xfrm>
            <a:off x="4434840" y="2606040"/>
            <a:ext cx="32918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6E0EB"/>
            </a:solidFill>
            <a:prstDash val="solid"/>
          </a:ln>
        </p:spPr>
      </p:sp>
      <p:pic>
        <p:nvPicPr>
          <p:cNvPr id="30" name="Image 1" descr="/mnt/data/crops/page-06_crop.png"/>
          <p:cNvPicPr>
            <a:picLocks noChangeAspect="1"/>
          </p:cNvPicPr>
          <p:nvPr/>
        </p:nvPicPr>
        <p:blipFill>
          <a:blip r:embed="rId4"/>
          <a:srcRect t="4795" b="4795"/>
          <a:stretch/>
        </p:blipFill>
        <p:spPr>
          <a:xfrm>
            <a:off x="4526280" y="2697480"/>
            <a:ext cx="3108960" cy="1618488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4526280" y="4361688"/>
            <a:ext cx="3108960" cy="1371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526280" y="4416552"/>
            <a:ext cx="310896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saved and listed</a:t>
            </a:r>
            <a:endParaRPr lang="en-US" sz="840" dirty="0"/>
          </a:p>
        </p:txBody>
      </p:sp>
      <p:sp>
        <p:nvSpPr>
          <p:cNvPr id="33" name="Shape 29"/>
          <p:cNvSpPr/>
          <p:nvPr/>
        </p:nvSpPr>
        <p:spPr>
          <a:xfrm>
            <a:off x="8138160" y="2606040"/>
            <a:ext cx="32918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6E0EB"/>
            </a:solidFill>
            <a:prstDash val="solid"/>
          </a:ln>
        </p:spPr>
      </p:sp>
      <p:pic>
        <p:nvPicPr>
          <p:cNvPr id="34" name="Image 2" descr="/mnt/data/crops/page-11_crop.png"/>
          <p:cNvPicPr>
            <a:picLocks noChangeAspect="1"/>
          </p:cNvPicPr>
          <p:nvPr/>
        </p:nvPicPr>
        <p:blipFill>
          <a:blip r:embed="rId5"/>
          <a:srcRect t="4795" b="4795"/>
          <a:stretch/>
        </p:blipFill>
        <p:spPr>
          <a:xfrm>
            <a:off x="8229600" y="2697480"/>
            <a:ext cx="3108960" cy="1618488"/>
          </a:xfrm>
          <a:prstGeom prst="rect">
            <a:avLst/>
          </a:prstGeom>
        </p:spPr>
      </p:pic>
      <p:sp>
        <p:nvSpPr>
          <p:cNvPr id="35" name="Shape 30"/>
          <p:cNvSpPr/>
          <p:nvPr/>
        </p:nvSpPr>
        <p:spPr>
          <a:xfrm>
            <a:off x="8229600" y="4361688"/>
            <a:ext cx="3108960" cy="137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8229600" y="4416552"/>
            <a:ext cx="310896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created and displayed</a:t>
            </a:r>
            <a:endParaRPr lang="en-US" sz="840" dirty="0"/>
          </a:p>
        </p:txBody>
      </p:sp>
      <p:sp>
        <p:nvSpPr>
          <p:cNvPr id="37" name="Text 32"/>
          <p:cNvSpPr/>
          <p:nvPr/>
        </p:nvSpPr>
        <p:spPr>
          <a:xfrm>
            <a:off x="914400" y="5806440"/>
            <a:ext cx="10241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017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Customer Engagement &amp; Service Analytics Platform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48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</a:rPr>
              <a:t>Screenshots with Output &amp; Explanation for Core Logic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274552" y="6656832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10/18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94360" y="114300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6E0EB"/>
            </a:solidFill>
            <a:prstDash val="solid"/>
          </a:ln>
        </p:spPr>
      </p:sp>
      <p:pic>
        <p:nvPicPr>
          <p:cNvPr id="9" name="Image 0" descr="/mnt/data/crops/page-02_crop.png"/>
          <p:cNvPicPr>
            <a:picLocks noChangeAspect="1"/>
          </p:cNvPicPr>
          <p:nvPr/>
        </p:nvPicPr>
        <p:blipFill>
          <a:blip r:embed="rId3"/>
          <a:srcRect t="7513" b="7513"/>
          <a:stretch/>
        </p:blipFill>
        <p:spPr>
          <a:xfrm>
            <a:off x="685800" y="1234440"/>
            <a:ext cx="2560320" cy="125272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85800" y="2532888"/>
            <a:ext cx="2560320" cy="137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2587752"/>
            <a:ext cx="25603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 screen</a:t>
            </a:r>
            <a:endParaRPr lang="en-US" sz="840" dirty="0"/>
          </a:p>
        </p:txBody>
      </p:sp>
      <p:sp>
        <p:nvSpPr>
          <p:cNvPr id="12" name="Shape 9"/>
          <p:cNvSpPr/>
          <p:nvPr/>
        </p:nvSpPr>
        <p:spPr>
          <a:xfrm>
            <a:off x="3611880" y="114300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6E0EB"/>
            </a:solidFill>
            <a:prstDash val="solid"/>
          </a:ln>
        </p:spPr>
      </p:sp>
      <p:pic>
        <p:nvPicPr>
          <p:cNvPr id="13" name="Image 1" descr="/mnt/data/crops/page-03_crop.png"/>
          <p:cNvPicPr>
            <a:picLocks noChangeAspect="1"/>
          </p:cNvPicPr>
          <p:nvPr/>
        </p:nvPicPr>
        <p:blipFill>
          <a:blip r:embed="rId4"/>
          <a:srcRect t="7513" b="7513"/>
          <a:stretch/>
        </p:blipFill>
        <p:spPr>
          <a:xfrm>
            <a:off x="3703320" y="1234440"/>
            <a:ext cx="2560320" cy="125272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703320" y="2532888"/>
            <a:ext cx="2560320" cy="137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703320" y="2587752"/>
            <a:ext cx="25603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dashboard</a:t>
            </a:r>
            <a:endParaRPr lang="en-US" sz="840" dirty="0"/>
          </a:p>
        </p:txBody>
      </p:sp>
      <p:sp>
        <p:nvSpPr>
          <p:cNvPr id="16" name="Shape 12"/>
          <p:cNvSpPr/>
          <p:nvPr/>
        </p:nvSpPr>
        <p:spPr>
          <a:xfrm>
            <a:off x="6629400" y="114300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6E0EB"/>
            </a:solidFill>
            <a:prstDash val="solid"/>
          </a:ln>
        </p:spPr>
      </p:sp>
      <p:pic>
        <p:nvPicPr>
          <p:cNvPr id="17" name="Image 2" descr="/mnt/data/crops/page-07_crop.png"/>
          <p:cNvPicPr>
            <a:picLocks noChangeAspect="1"/>
          </p:cNvPicPr>
          <p:nvPr/>
        </p:nvPicPr>
        <p:blipFill>
          <a:blip r:embed="rId5"/>
          <a:srcRect t="7513" b="7513"/>
          <a:stretch/>
        </p:blipFill>
        <p:spPr>
          <a:xfrm>
            <a:off x="6720840" y="1234440"/>
            <a:ext cx="2560320" cy="125272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720840" y="2532888"/>
            <a:ext cx="2560320" cy="1371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720840" y="2587752"/>
            <a:ext cx="25603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Edited customer output</a:t>
            </a:r>
            <a:endParaRPr lang="en-US" sz="840" dirty="0"/>
          </a:p>
        </p:txBody>
      </p:sp>
      <p:sp>
        <p:nvSpPr>
          <p:cNvPr id="20" name="Shape 15"/>
          <p:cNvSpPr/>
          <p:nvPr/>
        </p:nvSpPr>
        <p:spPr>
          <a:xfrm>
            <a:off x="9646920" y="1143000"/>
            <a:ext cx="19659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6E0EB"/>
            </a:solidFill>
            <a:prstDash val="solid"/>
          </a:ln>
        </p:spPr>
      </p:sp>
      <p:pic>
        <p:nvPicPr>
          <p:cNvPr id="21" name="Image 3" descr="/mnt/data/crops/page-10_crop.png"/>
          <p:cNvPicPr>
            <a:picLocks noChangeAspect="1"/>
          </p:cNvPicPr>
          <p:nvPr/>
        </p:nvPicPr>
        <p:blipFill>
          <a:blip r:embed="rId6"/>
          <a:srcRect l="9021" r="9021"/>
          <a:stretch/>
        </p:blipFill>
        <p:spPr>
          <a:xfrm>
            <a:off x="9738360" y="1234440"/>
            <a:ext cx="1783080" cy="1252728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9738360" y="2532888"/>
            <a:ext cx="1783080" cy="137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9738360" y="2587752"/>
            <a:ext cx="178308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list</a:t>
            </a:r>
            <a:endParaRPr lang="en-US" sz="840" dirty="0"/>
          </a:p>
        </p:txBody>
      </p:sp>
      <p:sp>
        <p:nvSpPr>
          <p:cNvPr id="24" name="Text 18"/>
          <p:cNvSpPr/>
          <p:nvPr/>
        </p:nvSpPr>
        <p:spPr>
          <a:xfrm>
            <a:off x="731520" y="3520440"/>
            <a:ext cx="32461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output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731520" y="3831336"/>
            <a:ext cx="324612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 demo credentials create role claims and redirect to the correct dashboard.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4434840" y="3520440"/>
            <a:ext cx="32461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CRUD output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4434840" y="3831336"/>
            <a:ext cx="324612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Create/Edit/Delete actions write to the database and refresh the list view.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8138160" y="3520440"/>
            <a:ext cx="32461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workflow output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8138160" y="3831336"/>
            <a:ext cx="324612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data shows subject, description, status, priority and created date.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2743200" y="5074920"/>
            <a:ext cx="658368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2898648" y="5193792"/>
            <a:ext cx="627278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TicketsController Create POST logic</a:t>
            </a:r>
            <a:endParaRPr lang="en-US" sz="840" dirty="0"/>
          </a:p>
        </p:txBody>
      </p:sp>
      <p:sp>
        <p:nvSpPr>
          <p:cNvPr id="32" name="Text 26"/>
          <p:cNvSpPr/>
          <p:nvPr/>
        </p:nvSpPr>
        <p:spPr>
          <a:xfrm>
            <a:off x="2898648" y="5440680"/>
            <a:ext cx="6272784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if (ModelState.IsValid)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_context.Tickets.Add(ticket);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await _context.SaveChangesAsync();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return RedirectToAction(nameof(Index));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017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Customer Engagement &amp; Service Analytics Platform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48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</a:rPr>
              <a:t>Security: Authentication, Authorization &amp; Role Access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274552" y="6656832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11/18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23444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353312"/>
            <a:ext cx="15544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admin/user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703320" y="123444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4760" y="1353312"/>
            <a:ext cx="17373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ClaimsIdentity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+ Role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720840" y="123444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2280" y="1353312"/>
            <a:ext cx="17373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Cookie Sign-In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MVC session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738360" y="123444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29800" y="1353312"/>
            <a:ext cx="16459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[Authorize]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gating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606040" y="1691640"/>
            <a:ext cx="105156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623560" y="1691640"/>
            <a:ext cx="105156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641080" y="1691640"/>
            <a:ext cx="105156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22960" y="2788920"/>
            <a:ext cx="5029200" cy="1874520"/>
          </a:xfrm>
          <a:prstGeom prst="roundRect">
            <a:avLst>
              <a:gd name="adj" fmla="val 390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8408" y="2907792"/>
            <a:ext cx="471830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Role-based authorization in code</a:t>
            </a:r>
            <a:endParaRPr lang="en-US" sz="840" dirty="0"/>
          </a:p>
        </p:txBody>
      </p:sp>
      <p:sp>
        <p:nvSpPr>
          <p:cNvPr id="21" name="Text 19"/>
          <p:cNvSpPr/>
          <p:nvPr/>
        </p:nvSpPr>
        <p:spPr>
          <a:xfrm>
            <a:off x="978408" y="3154680"/>
            <a:ext cx="4718304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new Claim(ClaimTypes.Name, username),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new Claim(ClaimTypes.Role, role)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[Authorize(Roles = "Admin")]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public IActionResult AdminDashboard() =&gt; View();</a:t>
            </a:r>
            <a:endParaRPr lang="en-US" sz="700" dirty="0"/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[Authorize(Roles = "User")]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public IActionResult UserDashboard() =&gt; View();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446520" y="2788920"/>
            <a:ext cx="48920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6E0EB"/>
            </a:solidFill>
            <a:prstDash val="solid"/>
          </a:ln>
        </p:spPr>
      </p:sp>
      <p:pic>
        <p:nvPicPr>
          <p:cNvPr id="23" name="Image 0" descr="/mnt/data/crops/page-15_crop.png"/>
          <p:cNvPicPr>
            <a:picLocks noChangeAspect="1"/>
          </p:cNvPicPr>
          <p:nvPr/>
        </p:nvPicPr>
        <p:blipFill>
          <a:blip r:embed="rId3"/>
          <a:srcRect t="23528" b="23528"/>
          <a:stretch/>
        </p:blipFill>
        <p:spPr>
          <a:xfrm>
            <a:off x="6537960" y="2880360"/>
            <a:ext cx="4709160" cy="1435608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6537960" y="4361688"/>
            <a:ext cx="4709160" cy="1371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37960" y="4416552"/>
            <a:ext cx="470916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denied result for unauthorized flow</a:t>
            </a:r>
            <a:endParaRPr lang="en-US" sz="840" dirty="0"/>
          </a:p>
        </p:txBody>
      </p:sp>
      <p:sp>
        <p:nvSpPr>
          <p:cNvPr id="26" name="Text 23"/>
          <p:cNvSpPr/>
          <p:nvPr/>
        </p:nvSpPr>
        <p:spPr>
          <a:xfrm>
            <a:off x="914400" y="5806440"/>
            <a:ext cx="10241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017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Customer Engagement &amp; Service Analytics Platform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48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</a:rPr>
              <a:t>SOLID Principles: What We Actually Used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274552" y="6656832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12/18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" y="1143000"/>
            <a:ext cx="106984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Evidence-based answer: the project follows some SOLID ideas, but not all of SOLID completely. The most accurate claim is “partially followed, with improvement scope.”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34290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 — Single Responsibility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2185416"/>
            <a:ext cx="342900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Mostly followed: Customer, Ticket, LoginViewModel, DbContext and controllers have recognizable responsibilities. Controllers still contain direct data-access logic, so service extraction would improve it.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0" y="1874520"/>
            <a:ext cx="34290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— Open/Closed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0" y="2185416"/>
            <a:ext cx="342900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Partially followed: new controllers/views can be added without rewriting all modules. However status/priority are strings, so stronger enums/services would make extension cleaner.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58200" y="1874520"/>
            <a:ext cx="34290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 — Liskov Substitution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458200" y="2185416"/>
            <a:ext cx="342900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Limited direct evidence: the app uses framework abstractions like Controller, ControllerBase and IActionResult, but no custom inheritance hierarchy proves LSP strongly.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606040" y="4297680"/>
            <a:ext cx="34290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— Interface Segregation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606040" y="4608576"/>
            <a:ext cx="342900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Limited evidence: models/viewmodels are focused, but there are no custom service interfaces to demonstrate ISP deeply.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92240" y="4297680"/>
            <a:ext cx="34290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 — Dependency Inversion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92240" y="4608576"/>
            <a:ext cx="342900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Partially followed: ApplicationDbContext and ILogger are injected by DI. For stronger DIP, controllers should depend on repository/service interfaces rather than DbContext directly.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017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Customer Engagement &amp; Service Analytics Platform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48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</a:rPr>
              <a:t>Design Patterns Followed in the Project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274552" y="6656832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13/18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" y="1234440"/>
            <a:ext cx="32461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MVC Pattern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1545336"/>
            <a:ext cx="3246120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Views display data, controllers handle requests, models represent the domain.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26280" y="1234440"/>
            <a:ext cx="32461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Dependency Injection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26280" y="1545336"/>
            <a:ext cx="3246120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ApplicationDbContext and ILogger are injected through constructors and configured in Program.cs.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75320" y="1234440"/>
            <a:ext cx="32461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 / Unit of Work via EF Core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75320" y="1545336"/>
            <a:ext cx="3246120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DbSet behaves as repository-like collection; DbContext tracks changes and commits via SaveChangesAsync.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3154680"/>
            <a:ext cx="32461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Middleware Pipeline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3465576"/>
            <a:ext cx="3246120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UseSwagger, UseHttpsRedirection, UseRouting, UseAuthentication and UseAuthorization form the request pipeline.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26280" y="3154680"/>
            <a:ext cx="32461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Attribute Routing / Action Filters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26280" y="3465576"/>
            <a:ext cx="3246120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[Route], [ApiController], [HttpGet], [HttpPost], [Authorize], [ValidateAntiForgeryToken].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75320" y="3154680"/>
            <a:ext cx="32461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ViewModel Pattern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75320" y="3465576"/>
            <a:ext cx="3246120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LoginViewModel keeps login form data separate from Customer/Ticket entities.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0" y="5303520"/>
            <a:ext cx="4892040" cy="7315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13048" y="5422392"/>
            <a:ext cx="458114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 constructor example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3813048" y="5669280"/>
            <a:ext cx="458114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public CustomersController(ApplicationDbContext context)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_context = context;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2E8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017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Customer Engagement &amp; Service Analytics Platform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48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</a:rPr>
              <a:t>Traditional vs Latest Industry Dos &amp; Don’ts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274552" y="6656832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14/18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234440"/>
            <a:ext cx="507492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55080" y="1234440"/>
            <a:ext cx="507492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6E0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554480"/>
            <a:ext cx="41148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Avoid: Traditional / Risky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1965960"/>
            <a:ext cx="438912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</a:rPr>
              <a:t>• Spreadsheet/email-based customer issue tracking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</a:rPr>
              <a:t>• Business logic mixed everywhere without layering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</a:rPr>
              <a:t>• Plain postbacks without validation/security filters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</a:rPr>
              <a:t>• Manual API testing with no contract view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</a:rPr>
              <a:t>• Hard-coded secrets in production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</a:rPr>
              <a:t>• No automated checks before delivery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6629400" y="1554480"/>
            <a:ext cx="43891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Followed / Recommended Modern Approach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75120" y="1965960"/>
            <a:ext cx="4389120" cy="2697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</a:rPr>
              <a:t>• Layered MVC structure: Views, Controllers, Models, Data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</a:rPr>
              <a:t>• EF Core async CRUD and migrations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</a:rPr>
              <a:t>• Role-based access and anti-forgery on MVC POSTs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</a:rPr>
              <a:t>• Swagger for API contract and testing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</a:rPr>
              <a:t>• Secure configuration for production secrets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334155"/>
                </a:solidFill>
              </a:rPr>
              <a:t>• xUnit tests + CI/Docker foundation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914400" y="5888736"/>
            <a:ext cx="10241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endParaRPr lang="en-US" sz="12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017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Customer Engagement &amp; Service Analytics Platform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48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</a:rPr>
              <a:t>Top 10 Important Concepts / Modules Explained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274552" y="6656832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15/18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170432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243584"/>
            <a:ext cx="32918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280160" y="1207008"/>
            <a:ext cx="47548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AccountController: login, logout, dashboards and access control</a:t>
            </a:r>
            <a:endParaRPr lang="en-US" sz="1140" dirty="0"/>
          </a:p>
        </p:txBody>
      </p:sp>
      <p:sp>
        <p:nvSpPr>
          <p:cNvPr id="11" name="Shape 9"/>
          <p:cNvSpPr/>
          <p:nvPr/>
        </p:nvSpPr>
        <p:spPr>
          <a:xfrm>
            <a:off x="6309360" y="1170432"/>
            <a:ext cx="329184" cy="3291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243584"/>
            <a:ext cx="32918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812280" y="1207008"/>
            <a:ext cx="47548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CustomersController: MVC customer CRUD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777240" y="1700784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1773936"/>
            <a:ext cx="32918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280160" y="1737360"/>
            <a:ext cx="47548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TicketsController: MVC ticket lifecycle</a:t>
            </a:r>
            <a:endParaRPr lang="en-US" sz="1140" dirty="0"/>
          </a:p>
        </p:txBody>
      </p:sp>
      <p:sp>
        <p:nvSpPr>
          <p:cNvPr id="17" name="Shape 15"/>
          <p:cNvSpPr/>
          <p:nvPr/>
        </p:nvSpPr>
        <p:spPr>
          <a:xfrm>
            <a:off x="6309360" y="1700784"/>
            <a:ext cx="329184" cy="3291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773936"/>
            <a:ext cx="32918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812280" y="1737360"/>
            <a:ext cx="47548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CustomersApiController: customer REST API</a:t>
            </a:r>
            <a:endParaRPr lang="en-US" sz="1140" dirty="0"/>
          </a:p>
        </p:txBody>
      </p:sp>
      <p:sp>
        <p:nvSpPr>
          <p:cNvPr id="20" name="Shape 18"/>
          <p:cNvSpPr/>
          <p:nvPr/>
        </p:nvSpPr>
        <p:spPr>
          <a:xfrm>
            <a:off x="777240" y="2231136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2304288"/>
            <a:ext cx="32918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280160" y="2267712"/>
            <a:ext cx="47548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TicketsApiController: ticket REST API</a:t>
            </a:r>
            <a:endParaRPr lang="en-US" sz="1140" dirty="0"/>
          </a:p>
        </p:txBody>
      </p:sp>
      <p:sp>
        <p:nvSpPr>
          <p:cNvPr id="23" name="Shape 21"/>
          <p:cNvSpPr/>
          <p:nvPr/>
        </p:nvSpPr>
        <p:spPr>
          <a:xfrm>
            <a:off x="6309360" y="2231136"/>
            <a:ext cx="329184" cy="3291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2304288"/>
            <a:ext cx="32918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812280" y="2267712"/>
            <a:ext cx="47548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AuthApiController: JWT generation for API login</a:t>
            </a:r>
            <a:endParaRPr lang="en-US" sz="1140" dirty="0"/>
          </a:p>
        </p:txBody>
      </p:sp>
      <p:sp>
        <p:nvSpPr>
          <p:cNvPr id="26" name="Shape 24"/>
          <p:cNvSpPr/>
          <p:nvPr/>
        </p:nvSpPr>
        <p:spPr>
          <a:xfrm>
            <a:off x="777240" y="2761488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2834640"/>
            <a:ext cx="32918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280160" y="2798064"/>
            <a:ext cx="47548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ApplicationDbContext: EF Core database gateway</a:t>
            </a:r>
            <a:endParaRPr lang="en-US" sz="1140" dirty="0"/>
          </a:p>
        </p:txBody>
      </p:sp>
      <p:sp>
        <p:nvSpPr>
          <p:cNvPr id="29" name="Shape 27"/>
          <p:cNvSpPr/>
          <p:nvPr/>
        </p:nvSpPr>
        <p:spPr>
          <a:xfrm>
            <a:off x="6309360" y="2761488"/>
            <a:ext cx="329184" cy="3291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2834640"/>
            <a:ext cx="32918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812280" y="2798064"/>
            <a:ext cx="47548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&amp; Ticket models: domain schema and validation</a:t>
            </a:r>
            <a:endParaRPr lang="en-US" sz="1140" dirty="0"/>
          </a:p>
        </p:txBody>
      </p:sp>
      <p:sp>
        <p:nvSpPr>
          <p:cNvPr id="32" name="Shape 30"/>
          <p:cNvSpPr/>
          <p:nvPr/>
        </p:nvSpPr>
        <p:spPr>
          <a:xfrm>
            <a:off x="777240" y="3291840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3364992"/>
            <a:ext cx="32918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280160" y="3328416"/>
            <a:ext cx="47548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Razor Views: forms, tables and user workflows</a:t>
            </a:r>
            <a:endParaRPr lang="en-US" sz="1140" dirty="0"/>
          </a:p>
        </p:txBody>
      </p:sp>
      <p:sp>
        <p:nvSpPr>
          <p:cNvPr id="35" name="Shape 33"/>
          <p:cNvSpPr/>
          <p:nvPr/>
        </p:nvSpPr>
        <p:spPr>
          <a:xfrm>
            <a:off x="6309360" y="3291840"/>
            <a:ext cx="329184" cy="3291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3364992"/>
            <a:ext cx="32918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812280" y="3328416"/>
            <a:ext cx="47548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Swagger, xUnit, Docker/CI: testing and delivery support</a:t>
            </a:r>
            <a:endParaRPr lang="en-US" sz="1140" dirty="0"/>
          </a:p>
        </p:txBody>
      </p:sp>
      <p:sp>
        <p:nvSpPr>
          <p:cNvPr id="38" name="Shape 36"/>
          <p:cNvSpPr/>
          <p:nvPr/>
        </p:nvSpPr>
        <p:spPr>
          <a:xfrm>
            <a:off x="1828800" y="4617720"/>
            <a:ext cx="3794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E0EB"/>
            </a:solidFill>
            <a:prstDash val="solid"/>
          </a:ln>
        </p:spPr>
      </p:sp>
      <p:pic>
        <p:nvPicPr>
          <p:cNvPr id="39" name="Image 0" descr="/mnt/data/crops/page-14_crop.png"/>
          <p:cNvPicPr>
            <a:picLocks noChangeAspect="1"/>
          </p:cNvPicPr>
          <p:nvPr/>
        </p:nvPicPr>
        <p:blipFill>
          <a:blip r:embed="rId3"/>
          <a:srcRect t="30874" b="30874"/>
          <a:stretch/>
        </p:blipFill>
        <p:spPr>
          <a:xfrm>
            <a:off x="1920240" y="4709160"/>
            <a:ext cx="3611880" cy="795528"/>
          </a:xfrm>
          <a:prstGeom prst="rect">
            <a:avLst/>
          </a:prstGeom>
        </p:spPr>
      </p:pic>
      <p:sp>
        <p:nvSpPr>
          <p:cNvPr id="40" name="Shape 37"/>
          <p:cNvSpPr/>
          <p:nvPr/>
        </p:nvSpPr>
        <p:spPr>
          <a:xfrm>
            <a:off x="1920240" y="5550408"/>
            <a:ext cx="3611880" cy="137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920240" y="5605272"/>
            <a:ext cx="361188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dashboard module</a:t>
            </a:r>
            <a:endParaRPr lang="en-US" sz="840" dirty="0"/>
          </a:p>
        </p:txBody>
      </p:sp>
      <p:sp>
        <p:nvSpPr>
          <p:cNvPr id="42" name="Shape 39"/>
          <p:cNvSpPr/>
          <p:nvPr/>
        </p:nvSpPr>
        <p:spPr>
          <a:xfrm>
            <a:off x="6583680" y="4617720"/>
            <a:ext cx="3794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E0EB"/>
            </a:solidFill>
            <a:prstDash val="solid"/>
          </a:ln>
        </p:spPr>
      </p:sp>
      <p:pic>
        <p:nvPicPr>
          <p:cNvPr id="43" name="Image 1" descr="/mnt/data/crops/page-03_crop.png"/>
          <p:cNvPicPr>
            <a:picLocks noChangeAspect="1"/>
          </p:cNvPicPr>
          <p:nvPr/>
        </p:nvPicPr>
        <p:blipFill>
          <a:blip r:embed="rId4"/>
          <a:srcRect t="30874" b="30874"/>
          <a:stretch/>
        </p:blipFill>
        <p:spPr>
          <a:xfrm>
            <a:off x="6675120" y="4709160"/>
            <a:ext cx="3611880" cy="795528"/>
          </a:xfrm>
          <a:prstGeom prst="rect">
            <a:avLst/>
          </a:prstGeom>
        </p:spPr>
      </p:pic>
      <p:sp>
        <p:nvSpPr>
          <p:cNvPr id="44" name="Shape 40"/>
          <p:cNvSpPr/>
          <p:nvPr/>
        </p:nvSpPr>
        <p:spPr>
          <a:xfrm>
            <a:off x="6675120" y="5550408"/>
            <a:ext cx="3611880" cy="137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6675120" y="5605272"/>
            <a:ext cx="361188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dashboard module</a:t>
            </a:r>
            <a:endParaRPr lang="en-US" sz="8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017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Customer Engagement &amp; Service Analytics Platform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48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</a:rPr>
              <a:t>Best Practices Followed as per Industry Standards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274552" y="6656832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16/18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" y="1234440"/>
            <a:ext cx="32461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Separation of Concerns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1545336"/>
            <a:ext cx="3246120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Views, controllers, models, data context and migrations are placed in clear folders.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26280" y="1234440"/>
            <a:ext cx="32461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Async Data Access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26280" y="1545336"/>
            <a:ext cx="3246120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 actions use ToListAsync, FindAsync and SaveChangesAsync for database operations.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75320" y="1234440"/>
            <a:ext cx="32461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75320" y="1545336"/>
            <a:ext cx="3246120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DataAnnotations and ModelState checks protect forms before saving.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3154680"/>
            <a:ext cx="32461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Checks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3465576"/>
            <a:ext cx="3246120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[Authorize] roles and [ValidateAntiForgeryToken] are used on secured workflows.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26280" y="3154680"/>
            <a:ext cx="32461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Visibility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26280" y="3465576"/>
            <a:ext cx="3246120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Swagger makes API behavior testable and presentable to SMEs.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75320" y="3154680"/>
            <a:ext cx="32461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Foundation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75320" y="3465576"/>
            <a:ext cx="3246120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Dockerfile, GitHub workflow and unit tests show readiness beyond local execution.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74720" y="5212080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6E0EB"/>
            </a:solidFill>
            <a:prstDash val="solid"/>
          </a:ln>
        </p:spPr>
      </p:sp>
      <p:pic>
        <p:nvPicPr>
          <p:cNvPr id="21" name="Image 0" descr="/mnt/data/cep/CostumerEngagementPlatform-Final-Capstone-Project--master/test cases passed op.png"/>
          <p:cNvPicPr>
            <a:picLocks noChangeAspect="1"/>
          </p:cNvPicPr>
          <p:nvPr/>
        </p:nvPicPr>
        <p:blipFill>
          <a:blip r:embed="rId3"/>
          <a:srcRect t="40106" b="40106"/>
          <a:stretch/>
        </p:blipFill>
        <p:spPr>
          <a:xfrm>
            <a:off x="3566160" y="5303520"/>
            <a:ext cx="5029200" cy="384048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3566160" y="5733288"/>
            <a:ext cx="5029200" cy="1371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566160" y="5788152"/>
            <a:ext cx="502920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 evidence: attached test case output</a:t>
            </a:r>
            <a:endParaRPr lang="en-US" sz="8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017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Customer Engagement &amp; Service Analytics Platform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548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02033"/>
                </a:solidFill>
              </a:rPr>
              <a:t>Q&amp;A Readiness: SME Panel Preparation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274552" y="6656832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17/18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" y="1143000"/>
            <a:ext cx="10241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answers should be honest, technical and business-aligned.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1737360"/>
            <a:ext cx="48006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2048256"/>
            <a:ext cx="48006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3-tier MVC: Razor UI → Controllers → EF Core DbContext → SQL Server.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09360" y="1737360"/>
            <a:ext cx="48006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Value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09360" y="2048256"/>
            <a:ext cx="48006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Centralizes customers and tickets, improves status visibility and reduces manual tracking.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68680" y="2852928"/>
            <a:ext cx="48006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68680" y="3163824"/>
            <a:ext cx="48006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Cookie auth drives MVC login; roles gate Admin/User dashboards. JWT exists for API login demo.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09360" y="2852928"/>
            <a:ext cx="48006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09360" y="3163824"/>
            <a:ext cx="48006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Partially applied: SRP and DI are visible; stronger DIP/ISP needs service interfaces.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68680" y="3968496"/>
            <a:ext cx="48006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68680" y="4279392"/>
            <a:ext cx="48006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Customer-to-ticket relationship uses CustomerId; Ticket supports status, priority and created date.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09360" y="3968496"/>
            <a:ext cx="48006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Scope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309360" y="4279392"/>
            <a:ext cx="480060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hard-coded users, hash passwords, add analytics dashboard, email notifications and stronger tests.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05840" y="5486400"/>
            <a:ext cx="21945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Suggested closing line: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5779008"/>
            <a:ext cx="100584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40" i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“This project is a working, database-backed MVC application with secure role-based access, Swagger APIs and a clear path for production hardening.”</a:t>
            </a:r>
            <a:endParaRPr lang="en-US" sz="12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A33"/>
          </a:solidFill>
          <a:ln w="12700">
            <a:solidFill>
              <a:srgbClr val="081A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07899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107899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51560" y="2788920"/>
            <a:ext cx="2926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6E0E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" name="Image 0" descr="/mnt/data/crops/page-01_crop.png"/>
          <p:cNvPicPr>
            <a:picLocks noChangeAspect="1"/>
          </p:cNvPicPr>
          <p:nvPr/>
        </p:nvPicPr>
        <p:blipFill>
          <a:blip r:embed="rId3"/>
          <a:srcRect t="10947" b="10947"/>
          <a:stretch/>
        </p:blipFill>
        <p:spPr>
          <a:xfrm>
            <a:off x="1143000" y="2880360"/>
            <a:ext cx="2743200" cy="12527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143000" y="4178808"/>
            <a:ext cx="2743200" cy="1371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143000" y="4233672"/>
            <a:ext cx="274320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demonstration</a:t>
            </a:r>
            <a:endParaRPr lang="en-US" sz="840" dirty="0"/>
          </a:p>
        </p:txBody>
      </p:sp>
      <p:sp>
        <p:nvSpPr>
          <p:cNvPr id="10" name="Shape 7"/>
          <p:cNvSpPr/>
          <p:nvPr/>
        </p:nvSpPr>
        <p:spPr>
          <a:xfrm>
            <a:off x="4617720" y="2788920"/>
            <a:ext cx="2926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6E0E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1" descr="/mnt/data/crops/page-12_crop.png"/>
          <p:cNvPicPr>
            <a:picLocks noChangeAspect="1"/>
          </p:cNvPicPr>
          <p:nvPr/>
        </p:nvPicPr>
        <p:blipFill>
          <a:blip r:embed="rId4"/>
          <a:srcRect t="10345" b="10345"/>
          <a:stretch/>
        </p:blipFill>
        <p:spPr>
          <a:xfrm>
            <a:off x="4709160" y="2880360"/>
            <a:ext cx="2743200" cy="125272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709160" y="4178808"/>
            <a:ext cx="2743200" cy="1371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9"/>
          <p:cNvSpPr/>
          <p:nvPr/>
        </p:nvSpPr>
        <p:spPr>
          <a:xfrm>
            <a:off x="4709160" y="4233672"/>
            <a:ext cx="274320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demonstration</a:t>
            </a:r>
            <a:endParaRPr lang="en-US" sz="840" dirty="0"/>
          </a:p>
        </p:txBody>
      </p:sp>
      <p:sp>
        <p:nvSpPr>
          <p:cNvPr id="14" name="Shape 10"/>
          <p:cNvSpPr/>
          <p:nvPr/>
        </p:nvSpPr>
        <p:spPr>
          <a:xfrm>
            <a:off x="8183880" y="2788920"/>
            <a:ext cx="2926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6E0E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2" descr="/mnt/data/crops/page-10_crop.png"/>
          <p:cNvPicPr>
            <a:picLocks noChangeAspect="1"/>
          </p:cNvPicPr>
          <p:nvPr/>
        </p:nvPicPr>
        <p:blipFill>
          <a:blip r:embed="rId5"/>
          <a:srcRect t="10345" b="10345"/>
          <a:stretch/>
        </p:blipFill>
        <p:spPr>
          <a:xfrm>
            <a:off x="8275320" y="2880360"/>
            <a:ext cx="2743200" cy="125272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275320" y="4178808"/>
            <a:ext cx="2743200" cy="137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2"/>
          <p:cNvSpPr/>
          <p:nvPr/>
        </p:nvSpPr>
        <p:spPr>
          <a:xfrm>
            <a:off x="8275320" y="4233672"/>
            <a:ext cx="274320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workflow</a:t>
            </a:r>
            <a:endParaRPr lang="en-US" sz="840" dirty="0"/>
          </a:p>
        </p:txBody>
      </p:sp>
      <p:sp>
        <p:nvSpPr>
          <p:cNvPr id="19" name="Text 14"/>
          <p:cNvSpPr/>
          <p:nvPr/>
        </p:nvSpPr>
        <p:spPr>
          <a:xfrm>
            <a:off x="685800" y="5715000"/>
            <a:ext cx="107899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11292840" y="6629400"/>
            <a:ext cx="502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18/18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1979</Words>
  <Application>Microsoft Office PowerPoint</Application>
  <PresentationFormat>Widescreen</PresentationFormat>
  <Paragraphs>346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Calibri</vt:lpstr>
      <vt:lpstr>Cascadia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Capstone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Engagement &amp; Service Analytics Platform</dc:title>
  <dc:subject>Final presentation for Customer Engagement &amp; Service Analytics Platform</dc:subject>
  <dc:creator>Anuja Salve</dc:creator>
  <cp:lastModifiedBy>anu salve</cp:lastModifiedBy>
  <cp:revision>2</cp:revision>
  <dcterms:created xsi:type="dcterms:W3CDTF">2026-06-05T20:36:57Z</dcterms:created>
  <dcterms:modified xsi:type="dcterms:W3CDTF">2026-06-05T21:53:27Z</dcterms:modified>
</cp:coreProperties>
</file>